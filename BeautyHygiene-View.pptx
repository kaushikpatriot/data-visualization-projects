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25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b973f48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b973f4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cbd6b6cd9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cbd6b6cd9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6f1408d7f3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6f1408d7f3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6f1408d7f3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6f1408d7f3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f1408d7f3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f1408d7f3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6f1408d7f3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6f1408d7f3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6f1408d7f3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6f1408d7f3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6f1408d7f3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6f1408d7f3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6f1408d7f3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6f1408d7f3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6f1408d7f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6f1408d7f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6f1408d7f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6f1408d7f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6f1408d7f3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6f1408d7f3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6f1408d7f3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6f1408d7f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6f1408d7f3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6f1408d7f3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6f1408d7f3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6f1408d7f3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39.png"/><Relationship Id="rId83" Type="http://schemas.openxmlformats.org/officeDocument/2006/relationships/slide" Target="/ppt/slides/slide13.xml"/><Relationship Id="rId42" Type="http://schemas.openxmlformats.org/officeDocument/2006/relationships/image" Target="../media/image35.png"/><Relationship Id="rId41" Type="http://schemas.openxmlformats.org/officeDocument/2006/relationships/image" Target="../media/image59.png"/><Relationship Id="rId44" Type="http://schemas.openxmlformats.org/officeDocument/2006/relationships/image" Target="../media/image40.png"/><Relationship Id="rId43" Type="http://schemas.openxmlformats.org/officeDocument/2006/relationships/image" Target="../media/image42.png"/><Relationship Id="rId46" Type="http://schemas.openxmlformats.org/officeDocument/2006/relationships/image" Target="../media/image52.png"/><Relationship Id="rId45" Type="http://schemas.openxmlformats.org/officeDocument/2006/relationships/image" Target="../media/image36.png"/><Relationship Id="rId80" Type="http://schemas.openxmlformats.org/officeDocument/2006/relationships/image" Target="../media/image71.png"/><Relationship Id="rId82" Type="http://schemas.openxmlformats.org/officeDocument/2006/relationships/image" Target="../media/image76.png"/><Relationship Id="rId81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48" Type="http://schemas.openxmlformats.org/officeDocument/2006/relationships/image" Target="../media/image47.png"/><Relationship Id="rId47" Type="http://schemas.openxmlformats.org/officeDocument/2006/relationships/slide" Target="/ppt/slides/slide4.xml"/><Relationship Id="rId49" Type="http://schemas.openxmlformats.org/officeDocument/2006/relationships/image" Target="../media/image4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.png"/><Relationship Id="rId73" Type="http://schemas.openxmlformats.org/officeDocument/2006/relationships/slide" Target="/ppt/slides/slide10.xml"/><Relationship Id="rId72" Type="http://schemas.openxmlformats.org/officeDocument/2006/relationships/slide" Target="/ppt/slides/slide3.xml"/><Relationship Id="rId31" Type="http://schemas.openxmlformats.org/officeDocument/2006/relationships/image" Target="../media/image28.png"/><Relationship Id="rId75" Type="http://schemas.openxmlformats.org/officeDocument/2006/relationships/image" Target="../media/image68.png"/><Relationship Id="rId30" Type="http://schemas.openxmlformats.org/officeDocument/2006/relationships/image" Target="../media/image21.png"/><Relationship Id="rId74" Type="http://schemas.openxmlformats.org/officeDocument/2006/relationships/image" Target="../media/image56.png"/><Relationship Id="rId33" Type="http://schemas.openxmlformats.org/officeDocument/2006/relationships/image" Target="../media/image31.png"/><Relationship Id="rId77" Type="http://schemas.openxmlformats.org/officeDocument/2006/relationships/image" Target="../media/image79.png"/><Relationship Id="rId32" Type="http://schemas.openxmlformats.org/officeDocument/2006/relationships/image" Target="../media/image46.png"/><Relationship Id="rId76" Type="http://schemas.openxmlformats.org/officeDocument/2006/relationships/image" Target="../media/image65.png"/><Relationship Id="rId35" Type="http://schemas.openxmlformats.org/officeDocument/2006/relationships/image" Target="../media/image26.png"/><Relationship Id="rId79" Type="http://schemas.openxmlformats.org/officeDocument/2006/relationships/image" Target="../media/image78.png"/><Relationship Id="rId34" Type="http://schemas.openxmlformats.org/officeDocument/2006/relationships/image" Target="../media/image34.png"/><Relationship Id="rId78" Type="http://schemas.openxmlformats.org/officeDocument/2006/relationships/image" Target="../media/image72.png"/><Relationship Id="rId71" Type="http://schemas.openxmlformats.org/officeDocument/2006/relationships/image" Target="../media/image64.png"/><Relationship Id="rId70" Type="http://schemas.openxmlformats.org/officeDocument/2006/relationships/image" Target="../media/image66.png"/><Relationship Id="rId37" Type="http://schemas.openxmlformats.org/officeDocument/2006/relationships/image" Target="../media/image37.png"/><Relationship Id="rId36" Type="http://schemas.openxmlformats.org/officeDocument/2006/relationships/image" Target="../media/image30.png"/><Relationship Id="rId39" Type="http://schemas.openxmlformats.org/officeDocument/2006/relationships/image" Target="../media/image32.png"/><Relationship Id="rId38" Type="http://schemas.openxmlformats.org/officeDocument/2006/relationships/image" Target="../media/image43.png"/><Relationship Id="rId62" Type="http://schemas.openxmlformats.org/officeDocument/2006/relationships/image" Target="../media/image61.png"/><Relationship Id="rId61" Type="http://schemas.openxmlformats.org/officeDocument/2006/relationships/image" Target="../media/image54.png"/><Relationship Id="rId20" Type="http://schemas.openxmlformats.org/officeDocument/2006/relationships/image" Target="../media/image8.png"/><Relationship Id="rId64" Type="http://schemas.openxmlformats.org/officeDocument/2006/relationships/image" Target="../media/image63.png"/><Relationship Id="rId63" Type="http://schemas.openxmlformats.org/officeDocument/2006/relationships/image" Target="../media/image69.png"/><Relationship Id="rId22" Type="http://schemas.openxmlformats.org/officeDocument/2006/relationships/image" Target="../media/image18.png"/><Relationship Id="rId66" Type="http://schemas.openxmlformats.org/officeDocument/2006/relationships/image" Target="../media/image57.png"/><Relationship Id="rId21" Type="http://schemas.openxmlformats.org/officeDocument/2006/relationships/image" Target="../media/image25.png"/><Relationship Id="rId65" Type="http://schemas.openxmlformats.org/officeDocument/2006/relationships/image" Target="../media/image74.png"/><Relationship Id="rId24" Type="http://schemas.openxmlformats.org/officeDocument/2006/relationships/image" Target="../media/image23.png"/><Relationship Id="rId68" Type="http://schemas.openxmlformats.org/officeDocument/2006/relationships/image" Target="../media/image55.png"/><Relationship Id="rId23" Type="http://schemas.openxmlformats.org/officeDocument/2006/relationships/image" Target="../media/image27.png"/><Relationship Id="rId67" Type="http://schemas.openxmlformats.org/officeDocument/2006/relationships/image" Target="../media/image67.png"/><Relationship Id="rId60" Type="http://schemas.openxmlformats.org/officeDocument/2006/relationships/image" Target="../media/image60.png"/><Relationship Id="rId26" Type="http://schemas.openxmlformats.org/officeDocument/2006/relationships/image" Target="../media/image33.png"/><Relationship Id="rId25" Type="http://schemas.openxmlformats.org/officeDocument/2006/relationships/image" Target="../media/image24.png"/><Relationship Id="rId69" Type="http://schemas.openxmlformats.org/officeDocument/2006/relationships/image" Target="../media/image73.png"/><Relationship Id="rId28" Type="http://schemas.openxmlformats.org/officeDocument/2006/relationships/image" Target="../media/image29.png"/><Relationship Id="rId27" Type="http://schemas.openxmlformats.org/officeDocument/2006/relationships/image" Target="../media/image19.png"/><Relationship Id="rId29" Type="http://schemas.openxmlformats.org/officeDocument/2006/relationships/image" Target="../media/image22.png"/><Relationship Id="rId51" Type="http://schemas.openxmlformats.org/officeDocument/2006/relationships/image" Target="../media/image38.png"/><Relationship Id="rId50" Type="http://schemas.openxmlformats.org/officeDocument/2006/relationships/image" Target="../media/image49.png"/><Relationship Id="rId53" Type="http://schemas.openxmlformats.org/officeDocument/2006/relationships/image" Target="../media/image62.png"/><Relationship Id="rId52" Type="http://schemas.openxmlformats.org/officeDocument/2006/relationships/image" Target="../media/image41.png"/><Relationship Id="rId11" Type="http://schemas.openxmlformats.org/officeDocument/2006/relationships/image" Target="../media/image14.png"/><Relationship Id="rId55" Type="http://schemas.openxmlformats.org/officeDocument/2006/relationships/image" Target="../media/image50.png"/><Relationship Id="rId10" Type="http://schemas.openxmlformats.org/officeDocument/2006/relationships/image" Target="../media/image20.png"/><Relationship Id="rId54" Type="http://schemas.openxmlformats.org/officeDocument/2006/relationships/image" Target="../media/image58.png"/><Relationship Id="rId13" Type="http://schemas.openxmlformats.org/officeDocument/2006/relationships/image" Target="../media/image5.png"/><Relationship Id="rId57" Type="http://schemas.openxmlformats.org/officeDocument/2006/relationships/image" Target="../media/image44.png"/><Relationship Id="rId12" Type="http://schemas.openxmlformats.org/officeDocument/2006/relationships/image" Target="../media/image3.png"/><Relationship Id="rId56" Type="http://schemas.openxmlformats.org/officeDocument/2006/relationships/image" Target="../media/image48.png"/><Relationship Id="rId15" Type="http://schemas.openxmlformats.org/officeDocument/2006/relationships/image" Target="../media/image17.png"/><Relationship Id="rId59" Type="http://schemas.openxmlformats.org/officeDocument/2006/relationships/image" Target="../media/image51.png"/><Relationship Id="rId14" Type="http://schemas.openxmlformats.org/officeDocument/2006/relationships/image" Target="../media/image16.png"/><Relationship Id="rId58" Type="http://schemas.openxmlformats.org/officeDocument/2006/relationships/image" Target="../media/image53.png"/><Relationship Id="rId17" Type="http://schemas.openxmlformats.org/officeDocument/2006/relationships/image" Target="../media/image15.png"/><Relationship Id="rId16" Type="http://schemas.openxmlformats.org/officeDocument/2006/relationships/image" Target="../media/image11.png"/><Relationship Id="rId19" Type="http://schemas.openxmlformats.org/officeDocument/2006/relationships/image" Target="../media/image10.png"/><Relationship Id="rId1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5.png"/><Relationship Id="rId4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2.png"/><Relationship Id="rId4" Type="http://schemas.openxmlformats.org/officeDocument/2006/relationships/slide" Target="/ppt/slides/slide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Relationship Id="rId4" Type="http://schemas.openxmlformats.org/officeDocument/2006/relationships/slide" Target="/ppt/slides/slide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6.png"/><Relationship Id="rId4" Type="http://schemas.openxmlformats.org/officeDocument/2006/relationships/slide" Target="/ppt/slides/slide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4.png"/><Relationship Id="rId4" Type="http://schemas.openxmlformats.org/officeDocument/2006/relationships/slide" Target="/ppt/slides/slide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5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1.png"/><Relationship Id="rId4" Type="http://schemas.openxmlformats.org/officeDocument/2006/relationships/image" Target="../media/image88.png"/><Relationship Id="rId5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0.png"/><Relationship Id="rId4" Type="http://schemas.openxmlformats.org/officeDocument/2006/relationships/slide" Target="/ppt/slides/slide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0.png"/><Relationship Id="rId4" Type="http://schemas.openxmlformats.org/officeDocument/2006/relationships/slide" Target="/ppt/slides/slide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3.png"/><Relationship Id="rId4" Type="http://schemas.openxmlformats.org/officeDocument/2006/relationships/slide" Target="/ppt/slides/slide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7.png"/><Relationship Id="rId4" Type="http://schemas.openxmlformats.org/officeDocument/2006/relationships/slide" Target="/ppt/slides/slide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9.png"/><Relationship Id="rId4" Type="http://schemas.openxmlformats.org/officeDocument/2006/relationships/slide" Target="/ppt/slides/slide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3.png"/><Relationship Id="rId4" Type="http://schemas.openxmlformats.org/officeDocument/2006/relationships/slide" Target="/ppt/slides/slide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1.png"/><Relationship Id="rId4" Type="http://schemas.openxmlformats.org/officeDocument/2006/relationships/slide" Target="/ppt/slides/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Beauty &amp; Hygiene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Sales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29250"/>
            <a:ext cx="9144000" cy="5301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0" y="562650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0" y="1168651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0" y="1721675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0" y="2278937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0" y="2875568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0" y="3391435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0" y="3962320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0" y="4545966"/>
            <a:ext cx="91440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75" y="117218"/>
            <a:ext cx="492600" cy="35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38" y="2904951"/>
            <a:ext cx="492600" cy="397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150" y="1226000"/>
            <a:ext cx="535500" cy="4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325" y="1840425"/>
            <a:ext cx="522175" cy="3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2200" y="3402110"/>
            <a:ext cx="474326" cy="5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500" y="634950"/>
            <a:ext cx="455425" cy="3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7025" y="2426750"/>
            <a:ext cx="455425" cy="23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7375" y="3993022"/>
            <a:ext cx="338700" cy="468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073" y="4603298"/>
            <a:ext cx="492600" cy="41543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-10400" y="10375"/>
            <a:ext cx="400200" cy="5121600"/>
          </a:xfrm>
          <a:prstGeom prst="rect">
            <a:avLst/>
          </a:prstGeom>
          <a:solidFill>
            <a:srgbClr val="FFAB40">
              <a:alpha val="5472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 rot="-5400000">
            <a:off x="-130050" y="124950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Hair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 rot="-5400000">
            <a:off x="-130050" y="658350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Face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857600" y="24750"/>
            <a:ext cx="1492200" cy="5061000"/>
          </a:xfrm>
          <a:prstGeom prst="rect">
            <a:avLst/>
          </a:prstGeom>
          <a:solidFill>
            <a:srgbClr val="FFAB4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 rot="-5400000">
            <a:off x="-130050" y="1264351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Eyes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 rot="-5400000">
            <a:off x="-130050" y="1817375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Mouth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 rot="-5400000">
            <a:off x="-130050" y="2374637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Lips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 rot="-5400000">
            <a:off x="-130050" y="2934105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Body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 rot="-5400000">
            <a:off x="-130050" y="3487135"/>
            <a:ext cx="59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Hands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 rot="-5400000">
            <a:off x="-173400" y="3981070"/>
            <a:ext cx="68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Private</a:t>
            </a:r>
            <a:endParaRPr b="1"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Hygiene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 rot="-5400000">
            <a:off x="-215400" y="4641666"/>
            <a:ext cx="76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Wellness</a:t>
            </a:r>
            <a:endParaRPr b="1" sz="1000">
              <a:solidFill>
                <a:schemeClr val="dk2"/>
              </a:solidFill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80956" y="4171411"/>
            <a:ext cx="154034" cy="111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80956" y="1929575"/>
            <a:ext cx="14017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80956" y="2485646"/>
            <a:ext cx="45440" cy="11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0956" y="4752675"/>
            <a:ext cx="392788" cy="11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80956" y="3605288"/>
            <a:ext cx="237983" cy="102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80956" y="245484"/>
            <a:ext cx="522177" cy="9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80956" y="773388"/>
            <a:ext cx="739264" cy="1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80956" y="1377742"/>
            <a:ext cx="55452" cy="111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80956" y="3049143"/>
            <a:ext cx="1101673" cy="108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4"/>
          <p:cNvCxnSpPr/>
          <p:nvPr/>
        </p:nvCxnSpPr>
        <p:spPr>
          <a:xfrm>
            <a:off x="3429000" y="9150"/>
            <a:ext cx="0" cy="513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/>
          <p:nvPr/>
        </p:nvCxnSpPr>
        <p:spPr>
          <a:xfrm>
            <a:off x="6978400" y="15450"/>
            <a:ext cx="0" cy="51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4" title="Chart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385823" y="2848145"/>
            <a:ext cx="472030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4" title="Chart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890647" y="2848145"/>
            <a:ext cx="483210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14" title="Chart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2385823" y="1178391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3" name="Google Shape;103;p14" title="Chart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890657" y="1178391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14" title="Chart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385813" y="572390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5" name="Google Shape;105;p14" title="Chart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2890657" y="572390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p14" title="Chart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393408" y="38990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4" title="Chart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891856" y="38990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14" title="Chart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385823" y="3401175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" name="Google Shape;109;p14" title="Chart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890668" y="3401175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p14" title="Chart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2385823" y="4555706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4" title="Chart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2890668" y="4555706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4" title="Chart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2385823" y="2288677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4" title="Chart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2890668" y="2288677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14" title="Chart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2385823" y="3972060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14" title="Chart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890668" y="3972060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14" title="Chart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2385823" y="1731415"/>
            <a:ext cx="47201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14" title="Chart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2890657" y="1731415"/>
            <a:ext cx="483191" cy="51062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14"/>
          <p:cNvSpPr txBox="1"/>
          <p:nvPr/>
        </p:nvSpPr>
        <p:spPr>
          <a:xfrm>
            <a:off x="807700" y="-43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21.2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07700" y="3004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1139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383025" y="14040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13.0%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1620225" y="67380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26</a:t>
            </a:r>
            <a:r>
              <a:rPr b="1" lang="en" sz="800">
                <a:solidFill>
                  <a:srgbClr val="B45F06"/>
                </a:solidFill>
              </a:rPr>
              <a:t>.5%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1010625" y="1279801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1.7%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1043863" y="1832825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1.8%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54313" y="239118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0.6%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918363" y="294633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39.6%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1173363" y="3523605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4.1%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1120050" y="4079855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3.4%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259750" y="4656005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B45F06"/>
                </a:solidFill>
              </a:rPr>
              <a:t>9.3%</a:t>
            </a:r>
            <a:endParaRPr b="1" sz="800">
              <a:solidFill>
                <a:srgbClr val="B45F06"/>
              </a:solidFill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807700" y="5290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43.4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807700" y="11386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2.8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807700" y="16720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3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807700" y="22054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1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807700" y="28150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64.9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807700" y="33484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6.8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807700" y="38818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5.5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807700" y="44914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 15.3 mio.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07700" y="8338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2167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807700" y="14434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118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807700" y="2031613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297 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807700" y="255520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96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807700" y="31198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2355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807700" y="3655388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515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817050" y="4242575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329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807700" y="4829750"/>
            <a:ext cx="73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851</a:t>
            </a:r>
            <a:r>
              <a:rPr b="1" lang="en" sz="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items</a:t>
            </a:r>
            <a:endParaRPr b="1"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3482950" y="2902050"/>
            <a:ext cx="1185774" cy="4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3443975" y="2948213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Perfume - 77%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4592525" y="29001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Enhance - 14%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Cleanse - 8%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3484150" y="1178400"/>
            <a:ext cx="1185774" cy="43328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14"/>
          <p:cNvSpPr txBox="1"/>
          <p:nvPr/>
        </p:nvSpPr>
        <p:spPr>
          <a:xfrm>
            <a:off x="3524963" y="1245650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Enhance</a:t>
            </a:r>
            <a:r>
              <a:rPr lang="en" sz="900">
                <a:solidFill>
                  <a:srgbClr val="D9D9D9"/>
                </a:solidFill>
              </a:rPr>
              <a:t> - 88%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4592525" y="12237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Cleanse - 9%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Essentials - 2%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3484150" y="603100"/>
            <a:ext cx="1185774" cy="431691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14"/>
          <p:cNvSpPr txBox="1"/>
          <p:nvPr/>
        </p:nvSpPr>
        <p:spPr>
          <a:xfrm>
            <a:off x="3524963" y="636050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Enhance - 51%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4592525" y="6141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Cleanse - 31%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Protect - 8%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3482950" y="69125"/>
            <a:ext cx="1185775" cy="431476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14"/>
          <p:cNvSpPr txBox="1"/>
          <p:nvPr/>
        </p:nvSpPr>
        <p:spPr>
          <a:xfrm>
            <a:off x="3524963" y="102650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Nourish</a:t>
            </a:r>
            <a:r>
              <a:rPr lang="en" sz="900">
                <a:solidFill>
                  <a:srgbClr val="D9D9D9"/>
                </a:solidFill>
              </a:rPr>
              <a:t>- 41%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4592525" y="807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Cleanse - 40%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Grooming- 13%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157" name="Google Shape;157;p14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3491250" y="3431051"/>
            <a:ext cx="1185775" cy="43228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14"/>
          <p:cNvSpPr txBox="1"/>
          <p:nvPr/>
        </p:nvSpPr>
        <p:spPr>
          <a:xfrm>
            <a:off x="3520175" y="3481613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Cleanse</a:t>
            </a:r>
            <a:r>
              <a:rPr lang="en" sz="900">
                <a:solidFill>
                  <a:srgbClr val="D9D9D9"/>
                </a:solidFill>
              </a:rPr>
              <a:t> - 82%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592525" y="34335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Enhance - 9%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Nourish - 5%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60" name="Google Shape;160;p14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3484150" y="2327413"/>
            <a:ext cx="1185776" cy="435339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4"/>
          <p:cNvSpPr txBox="1"/>
          <p:nvPr/>
        </p:nvSpPr>
        <p:spPr>
          <a:xfrm>
            <a:off x="3508263" y="2383525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Enhance</a:t>
            </a:r>
            <a:r>
              <a:rPr lang="en" sz="900">
                <a:solidFill>
                  <a:srgbClr val="D9D9D9"/>
                </a:solidFill>
              </a:rPr>
              <a:t> - 71%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592525" y="2366725"/>
            <a:ext cx="90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Cleanse - 19%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Wellness - 7%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163" name="Google Shape;163;p14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3484150" y="1747531"/>
            <a:ext cx="1185774" cy="434838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" name="Google Shape;164;p14"/>
          <p:cNvSpPr txBox="1"/>
          <p:nvPr/>
        </p:nvSpPr>
        <p:spPr>
          <a:xfrm>
            <a:off x="3524963" y="1779050"/>
            <a:ext cx="100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Cleanse</a:t>
            </a:r>
            <a:r>
              <a:rPr lang="en" sz="900">
                <a:solidFill>
                  <a:srgbClr val="D9D9D9"/>
                </a:solidFill>
              </a:rPr>
              <a:t> - 98%</a:t>
            </a:r>
            <a:endParaRPr sz="900">
              <a:solidFill>
                <a:srgbClr val="D9D9D9"/>
              </a:solidFill>
            </a:endParaRPr>
          </a:p>
        </p:txBody>
      </p:sp>
      <p:pic>
        <p:nvPicPr>
          <p:cNvPr id="165" name="Google Shape;165;p14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3499250" y="4017900"/>
            <a:ext cx="1185774" cy="43169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14"/>
          <p:cNvSpPr txBox="1"/>
          <p:nvPr/>
        </p:nvSpPr>
        <p:spPr>
          <a:xfrm>
            <a:off x="3541338" y="4072200"/>
            <a:ext cx="110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9D9D9"/>
                </a:solidFill>
              </a:rPr>
              <a:t>Essentials </a:t>
            </a:r>
            <a:r>
              <a:rPr lang="en" sz="900">
                <a:solidFill>
                  <a:srgbClr val="D9D9D9"/>
                </a:solidFill>
              </a:rPr>
              <a:t>- 92%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4592525" y="4043125"/>
            <a:ext cx="90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Sexual Health </a:t>
            </a:r>
            <a:r>
              <a:rPr lang="en" sz="600">
                <a:solidFill>
                  <a:schemeClr val="dk2"/>
                </a:solidFill>
              </a:rPr>
              <a:t> - 8%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484150" y="4591400"/>
            <a:ext cx="1185775" cy="42517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14"/>
          <p:cNvSpPr txBox="1"/>
          <p:nvPr/>
        </p:nvSpPr>
        <p:spPr>
          <a:xfrm>
            <a:off x="3498063" y="4591400"/>
            <a:ext cx="1101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Wellness </a:t>
            </a:r>
            <a:r>
              <a:rPr lang="en" sz="900">
                <a:solidFill>
                  <a:schemeClr val="dk2"/>
                </a:solidFill>
              </a:rPr>
              <a:t>- 96%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4592400" y="4591400"/>
            <a:ext cx="822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Pain Relief</a:t>
            </a:r>
            <a:r>
              <a:rPr lang="en" sz="600">
                <a:solidFill>
                  <a:schemeClr val="dk2"/>
                </a:solidFill>
              </a:rPr>
              <a:t>  - 3%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404300" y="13357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5471325" y="12652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65%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5404300" y="18691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5471325" y="17986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57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5404300" y="24787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5471325" y="24082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55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5404300" y="30121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5471325" y="29416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46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5404300" y="35455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5471325" y="34750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51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5404300" y="41551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5471325" y="40846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49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5404300" y="46885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5471325" y="46180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60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5404300" y="7261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5471325" y="6556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57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5404300" y="192738"/>
            <a:ext cx="140100" cy="16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>
            <a:hlinkClick action="ppaction://hlinksldjump" r:id="rId47"/>
          </p:cNvPr>
          <p:cNvSpPr/>
          <p:nvPr/>
        </p:nvSpPr>
        <p:spPr>
          <a:xfrm>
            <a:off x="5827425" y="24750"/>
            <a:ext cx="1151100" cy="5061000"/>
          </a:xfrm>
          <a:prstGeom prst="rect">
            <a:avLst/>
          </a:prstGeom>
          <a:solidFill>
            <a:srgbClr val="FFAB4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5471325" y="122238"/>
            <a:ext cx="45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52</a:t>
            </a:r>
            <a:r>
              <a:rPr b="1" lang="en" sz="800">
                <a:solidFill>
                  <a:schemeClr val="dk2"/>
                </a:solidFill>
              </a:rPr>
              <a:t>%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190" name="Google Shape;190;p14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910313" y="2958040"/>
            <a:ext cx="400200" cy="284353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14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6375325" y="2950300"/>
            <a:ext cx="522175" cy="2924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2" name="Google Shape;192;p14"/>
          <p:cNvSpPr txBox="1"/>
          <p:nvPr/>
        </p:nvSpPr>
        <p:spPr>
          <a:xfrm>
            <a:off x="5910313" y="31799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7.1%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6443713" y="31799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6</a:t>
            </a:r>
            <a:r>
              <a:rPr b="1" lang="en" sz="700">
                <a:solidFill>
                  <a:schemeClr val="dk2"/>
                </a:solidFill>
              </a:rPr>
              <a:t>.5%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5934703" y="1209938"/>
            <a:ext cx="400200" cy="3386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14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6376600" y="1279709"/>
            <a:ext cx="455400" cy="25501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14"/>
          <p:cNvSpPr txBox="1"/>
          <p:nvPr/>
        </p:nvSpPr>
        <p:spPr>
          <a:xfrm>
            <a:off x="5910313" y="15035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12</a:t>
            </a:r>
            <a:r>
              <a:rPr b="1" lang="en" sz="700">
                <a:solidFill>
                  <a:schemeClr val="dk2"/>
                </a:solidFill>
              </a:rPr>
              <a:t>.8%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6443713" y="15035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9</a:t>
            </a:r>
            <a:r>
              <a:rPr b="1" lang="en" sz="700">
                <a:solidFill>
                  <a:schemeClr val="dk2"/>
                </a:solidFill>
              </a:rPr>
              <a:t>.1%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198" name="Google Shape;198;p14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5920773" y="726075"/>
            <a:ext cx="400200" cy="22410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14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6358000" y="705712"/>
            <a:ext cx="492600" cy="24397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14"/>
          <p:cNvSpPr txBox="1"/>
          <p:nvPr/>
        </p:nvSpPr>
        <p:spPr>
          <a:xfrm>
            <a:off x="5975413" y="896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4.9</a:t>
            </a:r>
            <a:r>
              <a:rPr b="1" lang="en" sz="700">
                <a:solidFill>
                  <a:schemeClr val="dk2"/>
                </a:solidFill>
              </a:rPr>
              <a:t>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6432613" y="896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4.3</a:t>
            </a:r>
            <a:r>
              <a:rPr b="1" lang="en" sz="700">
                <a:solidFill>
                  <a:schemeClr val="dk2"/>
                </a:solidFill>
              </a:rPr>
              <a:t>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02" name="Google Shape;202;p14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5869388" y="162509"/>
            <a:ext cx="455400" cy="25501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14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6336550" y="135327"/>
            <a:ext cx="535500" cy="28875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14"/>
          <p:cNvSpPr txBox="1"/>
          <p:nvPr/>
        </p:nvSpPr>
        <p:spPr>
          <a:xfrm>
            <a:off x="5899213" y="3633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6</a:t>
            </a:r>
            <a:r>
              <a:rPr b="1" lang="en" sz="700">
                <a:solidFill>
                  <a:schemeClr val="dk2"/>
                </a:solidFill>
              </a:rPr>
              <a:t>.3%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05" name="Google Shape;205;p14"/>
          <p:cNvSpPr txBox="1"/>
          <p:nvPr/>
        </p:nvSpPr>
        <p:spPr>
          <a:xfrm>
            <a:off x="6432613" y="3633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6</a:t>
            </a:r>
            <a:r>
              <a:rPr b="1" lang="en" sz="700">
                <a:solidFill>
                  <a:schemeClr val="dk2"/>
                </a:solidFill>
              </a:rPr>
              <a:t>.1%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06" name="Google Shape;206;p14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5875151" y="3509625"/>
            <a:ext cx="400200" cy="20846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14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6357990" y="3464150"/>
            <a:ext cx="492600" cy="276779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8" name="Google Shape;208;p14"/>
          <p:cNvSpPr txBox="1"/>
          <p:nvPr/>
        </p:nvSpPr>
        <p:spPr>
          <a:xfrm>
            <a:off x="5924313" y="37076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7.4%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09" name="Google Shape;209;p14"/>
          <p:cNvSpPr txBox="1"/>
          <p:nvPr/>
        </p:nvSpPr>
        <p:spPr>
          <a:xfrm>
            <a:off x="6457713" y="37076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5</a:t>
            </a:r>
            <a:r>
              <a:rPr b="1" lang="en" sz="700">
                <a:solidFill>
                  <a:schemeClr val="dk2"/>
                </a:solidFill>
              </a:rPr>
              <a:t>.9%</a:t>
            </a:r>
            <a:endParaRPr b="1" sz="700">
              <a:solidFill>
                <a:schemeClr val="dk2"/>
              </a:solidFill>
            </a:endParaRPr>
          </a:p>
        </p:txBody>
      </p:sp>
      <p:cxnSp>
        <p:nvCxnSpPr>
          <p:cNvPr id="210" name="Google Shape;210;p14"/>
          <p:cNvCxnSpPr/>
          <p:nvPr/>
        </p:nvCxnSpPr>
        <p:spPr>
          <a:xfrm>
            <a:off x="5835400" y="15450"/>
            <a:ext cx="0" cy="51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1" name="Google Shape;211;p14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>
            <a:off x="5920773" y="2402475"/>
            <a:ext cx="400200" cy="22410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14"/>
          <p:cNvSpPr txBox="1"/>
          <p:nvPr/>
        </p:nvSpPr>
        <p:spPr>
          <a:xfrm>
            <a:off x="5899213" y="25731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8</a:t>
            </a:r>
            <a:r>
              <a:rPr b="1" lang="en" sz="700">
                <a:solidFill>
                  <a:schemeClr val="dk2"/>
                </a:solidFill>
              </a:rPr>
              <a:t>.0%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6432613" y="25731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7</a:t>
            </a:r>
            <a:r>
              <a:rPr b="1" lang="en" sz="700">
                <a:solidFill>
                  <a:schemeClr val="dk2"/>
                </a:solidFill>
              </a:rPr>
              <a:t>.2%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14" name="Google Shape;214;p14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6482550" y="2369025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4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5943188" y="1843988"/>
            <a:ext cx="307800" cy="289694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14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6418725" y="1844000"/>
            <a:ext cx="307800" cy="28968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14"/>
          <p:cNvSpPr txBox="1"/>
          <p:nvPr/>
        </p:nvSpPr>
        <p:spPr>
          <a:xfrm>
            <a:off x="5899213" y="2039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33</a:t>
            </a:r>
            <a:r>
              <a:rPr b="1" lang="en" sz="700">
                <a:solidFill>
                  <a:schemeClr val="dk2"/>
                </a:solidFill>
              </a:rPr>
              <a:t>.1%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6356413" y="2039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29</a:t>
            </a:r>
            <a:r>
              <a:rPr b="1" lang="en" sz="700">
                <a:solidFill>
                  <a:schemeClr val="dk2"/>
                </a:solidFill>
              </a:rPr>
              <a:t>.8%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19" name="Google Shape;219;p14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5953464" y="4122727"/>
            <a:ext cx="400200" cy="222038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14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6471748" y="4157810"/>
            <a:ext cx="307800" cy="230537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14"/>
          <p:cNvSpPr txBox="1"/>
          <p:nvPr/>
        </p:nvSpPr>
        <p:spPr>
          <a:xfrm>
            <a:off x="5925813" y="43021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17</a:t>
            </a:r>
            <a:r>
              <a:rPr b="1" lang="en" sz="700">
                <a:solidFill>
                  <a:schemeClr val="dk2"/>
                </a:solidFill>
              </a:rPr>
              <a:t>.6%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6459213" y="4302163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9</a:t>
            </a:r>
            <a:r>
              <a:rPr b="1" lang="en" sz="700">
                <a:solidFill>
                  <a:schemeClr val="dk2"/>
                </a:solidFill>
              </a:rPr>
              <a:t>.4%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23" name="Google Shape;223;p14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5920763" y="4671900"/>
            <a:ext cx="492600" cy="256578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p14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6498749" y="4624625"/>
            <a:ext cx="307775" cy="30100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14"/>
          <p:cNvSpPr txBox="1"/>
          <p:nvPr/>
        </p:nvSpPr>
        <p:spPr>
          <a:xfrm>
            <a:off x="5925813" y="4842188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6</a:t>
            </a:r>
            <a:r>
              <a:rPr b="1" lang="en" sz="700">
                <a:solidFill>
                  <a:schemeClr val="dk2"/>
                </a:solidFill>
              </a:rPr>
              <a:t>.6%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459213" y="4842188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6</a:t>
            </a:r>
            <a:r>
              <a:rPr b="1" lang="en" sz="700">
                <a:solidFill>
                  <a:schemeClr val="dk2"/>
                </a:solidFill>
              </a:rPr>
              <a:t>.3%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27" name="Google Shape;227;p14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7059298" y="2950423"/>
            <a:ext cx="307775" cy="3077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14"/>
          <p:cNvSpPr txBox="1"/>
          <p:nvPr/>
        </p:nvSpPr>
        <p:spPr>
          <a:xfrm>
            <a:off x="6966013" y="3182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Citrus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0" y="562650"/>
            <a:ext cx="9144000" cy="5301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7380325" y="3182750"/>
            <a:ext cx="53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Moringa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31" name="Google Shape;231;p14"/>
          <p:cNvPicPr preferRelativeResize="0"/>
          <p:nvPr/>
        </p:nvPicPr>
        <p:blipFill>
          <a:blip r:embed="rId65">
            <a:alphaModFix/>
          </a:blip>
          <a:stretch>
            <a:fillRect/>
          </a:stretch>
        </p:blipFill>
        <p:spPr>
          <a:xfrm>
            <a:off x="7031577" y="678602"/>
            <a:ext cx="307775" cy="3077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14"/>
          <p:cNvSpPr txBox="1"/>
          <p:nvPr/>
        </p:nvSpPr>
        <p:spPr>
          <a:xfrm>
            <a:off x="7029988" y="896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Aloe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7410988" y="896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Keratin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34" name="Google Shape;234;p14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7031577" y="133775"/>
            <a:ext cx="338700" cy="25369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14"/>
          <p:cNvSpPr txBox="1"/>
          <p:nvPr/>
        </p:nvSpPr>
        <p:spPr>
          <a:xfrm>
            <a:off x="6966013" y="295975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Amla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7347026" y="295975"/>
            <a:ext cx="53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Saffron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7487188" y="37161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Soya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38" name="Google Shape;238;p14"/>
          <p:cNvPicPr preferRelativeResize="0"/>
          <p:nvPr/>
        </p:nvPicPr>
        <p:blipFill>
          <a:blip r:embed="rId67">
            <a:alphaModFix/>
          </a:blip>
          <a:stretch>
            <a:fillRect/>
          </a:stretch>
        </p:blipFill>
        <p:spPr>
          <a:xfrm>
            <a:off x="7004411" y="3479574"/>
            <a:ext cx="392800" cy="26138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4"/>
          <p:cNvSpPr txBox="1"/>
          <p:nvPr/>
        </p:nvSpPr>
        <p:spPr>
          <a:xfrm>
            <a:off x="7029988" y="37161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Water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40" name="Google Shape;240;p14"/>
          <p:cNvPicPr preferRelativeResize="0"/>
          <p:nvPr/>
        </p:nvPicPr>
        <p:blipFill>
          <a:blip r:embed="rId68">
            <a:alphaModFix/>
          </a:blip>
          <a:stretch>
            <a:fillRect/>
          </a:stretch>
        </p:blipFill>
        <p:spPr>
          <a:xfrm>
            <a:off x="7036875" y="2379200"/>
            <a:ext cx="338700" cy="25368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14"/>
          <p:cNvSpPr txBox="1"/>
          <p:nvPr/>
        </p:nvSpPr>
        <p:spPr>
          <a:xfrm>
            <a:off x="6966013" y="25971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Butter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7357713" y="25971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Sugar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43" name="Google Shape;243;p14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7033815" y="1775300"/>
            <a:ext cx="400200" cy="274676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14"/>
          <p:cNvSpPr txBox="1"/>
          <p:nvPr/>
        </p:nvSpPr>
        <p:spPr>
          <a:xfrm>
            <a:off x="6966013" y="19875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Clove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7433913" y="19875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Castor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46" name="Google Shape;246;p14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7004964" y="4608014"/>
            <a:ext cx="400200" cy="26631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7004963" y="48297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Herbs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7457213" y="484460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Vanilla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49" name="Google Shape;249;p14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7059300" y="1268423"/>
            <a:ext cx="400200" cy="224128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0" name="Google Shape;250;p14"/>
          <p:cNvSpPr txBox="1"/>
          <p:nvPr/>
        </p:nvSpPr>
        <p:spPr>
          <a:xfrm>
            <a:off x="6966013" y="14541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Cotton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7412113" y="14421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Mango</a:t>
            </a:r>
            <a:endParaRPr b="1" sz="700">
              <a:solidFill>
                <a:schemeClr val="dk2"/>
              </a:solidFill>
            </a:endParaRPr>
          </a:p>
        </p:txBody>
      </p:sp>
      <p:pic>
        <p:nvPicPr>
          <p:cNvPr id="252" name="Google Shape;252;p14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7059300" y="4087823"/>
            <a:ext cx="400200" cy="224128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p14"/>
          <p:cNvSpPr txBox="1"/>
          <p:nvPr/>
        </p:nvSpPr>
        <p:spPr>
          <a:xfrm>
            <a:off x="6966013" y="4273581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Cotton</a:t>
            </a:r>
            <a:endParaRPr b="1" sz="700">
              <a:solidFill>
                <a:schemeClr val="dk2"/>
              </a:solidFill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7472813" y="4272950"/>
            <a:ext cx="492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Vit. C</a:t>
            </a:r>
            <a:endParaRPr b="1" sz="700">
              <a:solidFill>
                <a:schemeClr val="dk2"/>
              </a:solidFill>
            </a:endParaRPr>
          </a:p>
        </p:txBody>
      </p:sp>
      <p:cxnSp>
        <p:nvCxnSpPr>
          <p:cNvPr id="255" name="Google Shape;255;p14"/>
          <p:cNvCxnSpPr/>
          <p:nvPr/>
        </p:nvCxnSpPr>
        <p:spPr>
          <a:xfrm>
            <a:off x="7969000" y="15450"/>
            <a:ext cx="0" cy="512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14">
            <a:hlinkClick action="ppaction://hlinksldjump" r:id="rId72"/>
          </p:cNvPr>
          <p:cNvSpPr/>
          <p:nvPr/>
        </p:nvSpPr>
        <p:spPr>
          <a:xfrm>
            <a:off x="3429000" y="24750"/>
            <a:ext cx="2398500" cy="50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>
            <a:hlinkClick action="ppaction://hlinksldjump" r:id="rId73"/>
          </p:cNvPr>
          <p:cNvSpPr/>
          <p:nvPr/>
        </p:nvSpPr>
        <p:spPr>
          <a:xfrm>
            <a:off x="6956100" y="24750"/>
            <a:ext cx="970500" cy="50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8011400" y="211375"/>
            <a:ext cx="1069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8011400" y="-7075"/>
            <a:ext cx="586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Cleanse</a:t>
            </a:r>
            <a:endParaRPr b="1" sz="700">
              <a:solidFill>
                <a:schemeClr val="dk2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rgbClr val="FF0000"/>
                </a:solidFill>
              </a:rPr>
              <a:t>TreSemme</a:t>
            </a:r>
            <a:endParaRPr b="1" sz="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Amazon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Inatur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8576100" y="-11225"/>
            <a:ext cx="6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Nourish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rgbClr val="FF0000"/>
                </a:solidFill>
              </a:rPr>
              <a:t>Aloe Veda</a:t>
            </a:r>
            <a:endParaRPr b="1" sz="600">
              <a:solidFill>
                <a:schemeClr val="accent1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rgbClr val="FF0000"/>
                </a:solidFill>
              </a:rPr>
              <a:t>BbHunt</a:t>
            </a:r>
            <a:endParaRPr b="1" sz="600">
              <a:solidFill>
                <a:schemeClr val="accent1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The Mom’s 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8011400" y="526325"/>
            <a:ext cx="586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Enhance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Face Shop</a:t>
            </a:r>
            <a:endParaRPr b="1" sz="600">
              <a:solidFill>
                <a:srgbClr val="FF0000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It’s Skin</a:t>
            </a:r>
            <a:endParaRPr b="1" sz="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Shankara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8576100" y="522175"/>
            <a:ext cx="675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Cleanse</a:t>
            </a:r>
            <a:endParaRPr b="1" sz="700">
              <a:solidFill>
                <a:schemeClr val="dk2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Gillette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Shankara</a:t>
            </a:r>
            <a:endParaRPr b="1" sz="600">
              <a:solidFill>
                <a:schemeClr val="accent1"/>
              </a:solidFill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RichFeel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8011400" y="11359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Enhance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St Botanica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rgbClr val="FF0000"/>
                </a:solidFill>
              </a:rPr>
              <a:t>LOreal</a:t>
            </a:r>
            <a:endParaRPr b="1" sz="6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Inatur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8011400" y="17455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Cleanse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Colgate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Oral-B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">
                <a:solidFill>
                  <a:schemeClr val="accent1"/>
                </a:solidFill>
              </a:rPr>
              <a:t>Dabur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8011400" y="22789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Enhance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Milani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The Face shop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Vegetal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8011400" y="28123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Perfume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DKNY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Ajmal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Liberty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8011400" y="33457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Cleanse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TreSemme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Amazon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Morpheme Remedies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8011400" y="38791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Essentials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Seni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Everteen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Sirona</a:t>
            </a:r>
            <a:endParaRPr b="1" sz="600">
              <a:solidFill>
                <a:srgbClr val="FF0000"/>
              </a:solidFill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8011400" y="4488725"/>
            <a:ext cx="1069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</a:rPr>
              <a:t>Wellness</a:t>
            </a:r>
            <a:endParaRPr b="1"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Fit Whey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0000"/>
                </a:solidFill>
              </a:rPr>
              <a:t>BTN Sports</a:t>
            </a:r>
            <a:endParaRPr b="1"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chemeClr val="accent1"/>
                </a:solidFill>
              </a:rPr>
              <a:t>The Mom’s Co</a:t>
            </a:r>
            <a:endParaRPr b="1" sz="600">
              <a:solidFill>
                <a:srgbClr val="FF0000"/>
              </a:solidFill>
            </a:endParaRPr>
          </a:p>
        </p:txBody>
      </p:sp>
      <p:pic>
        <p:nvPicPr>
          <p:cNvPr id="270" name="Google Shape;270;p14"/>
          <p:cNvPicPr preferRelativeResize="0"/>
          <p:nvPr/>
        </p:nvPicPr>
        <p:blipFill>
          <a:blip r:embed="rId74">
            <a:alphaModFix/>
          </a:blip>
          <a:stretch>
            <a:fillRect/>
          </a:stretch>
        </p:blipFill>
        <p:spPr>
          <a:xfrm>
            <a:off x="7499424" y="126324"/>
            <a:ext cx="238000" cy="2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4"/>
          <p:cNvPicPr preferRelativeResize="0"/>
          <p:nvPr/>
        </p:nvPicPr>
        <p:blipFill>
          <a:blip r:embed="rId75">
            <a:alphaModFix/>
          </a:blip>
          <a:stretch>
            <a:fillRect/>
          </a:stretch>
        </p:blipFill>
        <p:spPr>
          <a:xfrm>
            <a:off x="7535175" y="669161"/>
            <a:ext cx="238000" cy="2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>
          <a:blip r:embed="rId76">
            <a:alphaModFix/>
          </a:blip>
          <a:stretch>
            <a:fillRect/>
          </a:stretch>
        </p:blipFill>
        <p:spPr>
          <a:xfrm>
            <a:off x="7540264" y="1288201"/>
            <a:ext cx="238000" cy="2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4"/>
          <p:cNvPicPr preferRelativeResize="0"/>
          <p:nvPr/>
        </p:nvPicPr>
        <p:blipFill>
          <a:blip r:embed="rId77">
            <a:alphaModFix/>
          </a:blip>
          <a:stretch>
            <a:fillRect/>
          </a:stretch>
        </p:blipFill>
        <p:spPr>
          <a:xfrm>
            <a:off x="7487526" y="1801813"/>
            <a:ext cx="307775" cy="201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/>
          <p:cNvPicPr preferRelativeResize="0"/>
          <p:nvPr/>
        </p:nvPicPr>
        <p:blipFill>
          <a:blip r:embed="rId78">
            <a:alphaModFix/>
          </a:blip>
          <a:stretch>
            <a:fillRect/>
          </a:stretch>
        </p:blipFill>
        <p:spPr>
          <a:xfrm>
            <a:off x="7433924" y="2371301"/>
            <a:ext cx="338700" cy="253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4"/>
          <p:cNvPicPr preferRelativeResize="0"/>
          <p:nvPr/>
        </p:nvPicPr>
        <p:blipFill>
          <a:blip r:embed="rId79">
            <a:alphaModFix/>
          </a:blip>
          <a:stretch>
            <a:fillRect/>
          </a:stretch>
        </p:blipFill>
        <p:spPr>
          <a:xfrm>
            <a:off x="7437422" y="2988165"/>
            <a:ext cx="400200" cy="224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4"/>
          <p:cNvPicPr preferRelativeResize="0"/>
          <p:nvPr/>
        </p:nvPicPr>
        <p:blipFill>
          <a:blip r:embed="rId80">
            <a:alphaModFix/>
          </a:blip>
          <a:stretch>
            <a:fillRect/>
          </a:stretch>
        </p:blipFill>
        <p:spPr>
          <a:xfrm>
            <a:off x="7513749" y="3448873"/>
            <a:ext cx="307775" cy="3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4"/>
          <p:cNvPicPr preferRelativeResize="0"/>
          <p:nvPr/>
        </p:nvPicPr>
        <p:blipFill>
          <a:blip r:embed="rId81">
            <a:alphaModFix/>
          </a:blip>
          <a:stretch>
            <a:fillRect/>
          </a:stretch>
        </p:blipFill>
        <p:spPr>
          <a:xfrm>
            <a:off x="7540280" y="4062630"/>
            <a:ext cx="338700" cy="22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4"/>
          <p:cNvPicPr preferRelativeResize="0"/>
          <p:nvPr/>
        </p:nvPicPr>
        <p:blipFill>
          <a:blip r:embed="rId82">
            <a:alphaModFix/>
          </a:blip>
          <a:stretch>
            <a:fillRect/>
          </a:stretch>
        </p:blipFill>
        <p:spPr>
          <a:xfrm>
            <a:off x="7517738" y="4610188"/>
            <a:ext cx="338700" cy="18967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>
            <a:hlinkClick action="ppaction://hlinksldjump" r:id="rId83"/>
          </p:cNvPr>
          <p:cNvSpPr/>
          <p:nvPr/>
        </p:nvSpPr>
        <p:spPr>
          <a:xfrm>
            <a:off x="7961025" y="24750"/>
            <a:ext cx="1151100" cy="5061000"/>
          </a:xfrm>
          <a:prstGeom prst="rect">
            <a:avLst/>
          </a:prstGeom>
          <a:solidFill>
            <a:srgbClr val="FFAB40">
              <a:alpha val="264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6550"/>
            <a:ext cx="8839201" cy="351293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>
            <p:ph type="title"/>
          </p:nvPr>
        </p:nvSpPr>
        <p:spPr>
          <a:xfrm>
            <a:off x="199725" y="23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Segment by uses</a:t>
            </a:r>
            <a:endParaRPr sz="1920"/>
          </a:p>
        </p:txBody>
      </p:sp>
      <p:sp>
        <p:nvSpPr>
          <p:cNvPr id="286" name="Google Shape;286;p15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Quadrants - Body</a:t>
            </a:r>
            <a:endParaRPr/>
          </a:p>
        </p:txBody>
      </p:sp>
      <p:sp>
        <p:nvSpPr>
          <p:cNvPr id="292" name="Google Shape;29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017725"/>
            <a:ext cx="8182898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Brand Quadrants - Eyes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550" y="1209725"/>
            <a:ext cx="3663651" cy="384847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7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Quadrants - Face</a:t>
            </a:r>
            <a:endParaRPr/>
          </a:p>
        </p:txBody>
      </p:sp>
      <p:sp>
        <p:nvSpPr>
          <p:cNvPr id="307" name="Google Shape;30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50949" cy="42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8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Quadrants - Hair</a:t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50" y="1152475"/>
            <a:ext cx="8667852" cy="387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9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Quadrants - Lips &amp; Hands</a:t>
            </a:r>
            <a:endParaRPr/>
          </a:p>
        </p:txBody>
      </p:sp>
      <p:pic>
        <p:nvPicPr>
          <p:cNvPr id="323" name="Google Shape;3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1700"/>
            <a:ext cx="3866703" cy="406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125" y="1017725"/>
            <a:ext cx="3428489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0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5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Quadrants - Mouth &amp; Wellness</a:t>
            </a:r>
            <a:endParaRPr/>
          </a:p>
        </p:txBody>
      </p:sp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75" y="1145475"/>
            <a:ext cx="3843800" cy="403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45490"/>
            <a:ext cx="3843800" cy="403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5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6100"/>
            <a:ext cx="9046876" cy="394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340" name="Google Shape;340;p22"/>
          <p:cNvSpPr txBox="1"/>
          <p:nvPr>
            <p:ph type="title"/>
          </p:nvPr>
        </p:nvSpPr>
        <p:spPr>
          <a:xfrm>
            <a:off x="47325" y="7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Consolidated - Ingredient Realisation View</a:t>
            </a:r>
            <a:endParaRPr sz="19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7125"/>
            <a:ext cx="9040126" cy="40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3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347" name="Google Shape;347;p23"/>
          <p:cNvSpPr txBox="1"/>
          <p:nvPr>
            <p:ph type="title"/>
          </p:nvPr>
        </p:nvSpPr>
        <p:spPr>
          <a:xfrm>
            <a:off x="47325" y="7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Ingredient Realisation View - 1</a:t>
            </a:r>
            <a:endParaRPr sz="19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900"/>
            <a:ext cx="9143999" cy="408318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  <p:sp>
        <p:nvSpPr>
          <p:cNvPr id="354" name="Google Shape;354;p24"/>
          <p:cNvSpPr txBox="1"/>
          <p:nvPr>
            <p:ph type="title"/>
          </p:nvPr>
        </p:nvSpPr>
        <p:spPr>
          <a:xfrm>
            <a:off x="47325" y="7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Ingredient Realisation View - 2</a:t>
            </a:r>
            <a:endParaRPr sz="19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Promotion Effectiveness - Body &amp; Eyes</a:t>
            </a:r>
            <a:endParaRPr/>
          </a:p>
        </p:txBody>
      </p:sp>
      <p:sp>
        <p:nvSpPr>
          <p:cNvPr id="360" name="Google Shape;36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75" y="999814"/>
            <a:ext cx="8520601" cy="403551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Promotion Effectiveness - Face &amp; Lips</a:t>
            </a:r>
            <a:endParaRPr/>
          </a:p>
        </p:txBody>
      </p:sp>
      <p:sp>
        <p:nvSpPr>
          <p:cNvPr id="368" name="Google Shape;36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1626"/>
            <a:ext cx="8475349" cy="40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6"/>
          <p:cNvSpPr txBox="1"/>
          <p:nvPr/>
        </p:nvSpPr>
        <p:spPr>
          <a:xfrm>
            <a:off x="123525" y="47015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Promotion Effectiveness - Hair &amp; Mouth</a:t>
            </a:r>
            <a:endParaRPr/>
          </a:p>
        </p:txBody>
      </p:sp>
      <p:sp>
        <p:nvSpPr>
          <p:cNvPr id="376" name="Google Shape;37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25" y="1017725"/>
            <a:ext cx="8285598" cy="392422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7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75375"/>
            <a:ext cx="8260707" cy="391245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Promotion Effectiveness - Hand, Wellness &amp; Hygiene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123525" y="4549125"/>
            <a:ext cx="12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hlink"/>
                </a:solidFill>
                <a:hlinkClick action="ppaction://hlinksldjump" r:id="rId4"/>
              </a:rPr>
              <a:t>Back</a:t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